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  <p:sldMasterId id="2147483671" r:id="rId3"/>
  </p:sldMasterIdLst>
  <p:notesMasterIdLst>
    <p:notesMasterId r:id="rId30"/>
  </p:notes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6858000" cy="9144000"/>
  <p:embeddedFontLst>
    <p:embeddedFont>
      <p:font typeface="Calibri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3744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5079f3c56_2_35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b5079f3c56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5079f3c56_2_48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b5079f3c56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5079f3c56_2_54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b5079f3c56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5079f3c56_2_60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b5079f3c56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5079f3c56_2_65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b5079f3c56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5079f3c56_2_77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b5079f3c56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079f3c56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b5079f3c56_2_84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b5079f3c56_2_84:notes"/>
          <p:cNvSpPr txBox="1">
            <a:spLocks noGrp="1"/>
          </p:cNvSpPr>
          <p:nvPr>
            <p:ph type="sldNum" idx="12"/>
          </p:nvPr>
        </p:nvSpPr>
        <p:spPr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5079f3c56_2_93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b5079f3c56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5079f3c56_2_99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b5079f3c56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5079f3c56_2_106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b5079f3c56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5079f3c56_2_113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b5079f3c56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5079f3c56_2_120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b5079f3c56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5079f3c56_2_125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b5079f3c56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5079f3c56_2_133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b5079f3c56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5079f3c56_2_139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b5079f3c56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5079f3c56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b5079f3c56_2_144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b5079f3c56_2_144:notes"/>
          <p:cNvSpPr txBox="1">
            <a:spLocks noGrp="1"/>
          </p:cNvSpPr>
          <p:nvPr>
            <p:ph type="sldNum" idx="12"/>
          </p:nvPr>
        </p:nvSpPr>
        <p:spPr>
          <a:xfrm>
            <a:off x="388501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5079f3c56_2_149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b5079f3c56_2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5079f3c56_2_153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b5079f3c56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5079f3c56_2_160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b5079f3c56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5079f3c56_2_165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b5079f3c56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5079f3c56_2_173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b5079f3c56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5079f3c56_2_178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b5079f3c56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5079f3c56_2_184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b5079f3c56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5079f3c56_0_61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b5079f3c5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7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5079f3c56_0_65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b5079f3c5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00" cy="308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5079f3c56_2_199:notes"/>
          <p:cNvSpPr txBox="1">
            <a:spLocks noGrp="1"/>
          </p:cNvSpPr>
          <p:nvPr>
            <p:ph type="body" idx="1"/>
          </p:nvPr>
        </p:nvSpPr>
        <p:spPr>
          <a:xfrm>
            <a:off x="685800" y="4399845"/>
            <a:ext cx="5486400" cy="3601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b5079f3c56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1"/>
            <a:ext cx="2314575" cy="308751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025706" y="1597567"/>
            <a:ext cx="4560570" cy="173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4025706" y="1597567"/>
            <a:ext cx="4560600" cy="17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0674" y="4638738"/>
            <a:ext cx="2419046" cy="45714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4025706" y="1597567"/>
            <a:ext cx="4560570" cy="173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0674" y="4638738"/>
            <a:ext cx="2419046" cy="45714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4025706" y="1597567"/>
            <a:ext cx="4560600" cy="17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963392" cy="15939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/>
        </p:nvSpPr>
        <p:spPr>
          <a:xfrm>
            <a:off x="1295400" y="340995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1463404" y="1971585"/>
            <a:ext cx="6248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latin typeface="Times New Roman"/>
                <a:ea typeface="Times New Roman"/>
                <a:cs typeface="Times New Roman"/>
                <a:sym typeface="Times New Roman"/>
              </a:rPr>
              <a:t>Home </a:t>
            </a:r>
            <a:r>
              <a:rPr lang="en-GB" sz="3600" b="1" i="0" u="none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Loan Approval Prediction Dataset Overview</a:t>
            </a:r>
            <a:endParaRPr sz="3600" b="0" i="0" u="none" strike="noStrike" cap="non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747155" cy="60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52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64467" y="835405"/>
            <a:ext cx="7865133" cy="36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 dataset contains 614 rows and 13 columns representing loan application records.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Columns include: Loan_ID, Gender, Married, Dependents, Education, Self_Employed, ApplicantIncome, CoapplicantIncome, LoanAmount, Loan_Amount_Term, Credit_History, Property_Area, Loan_Status.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Data types include 8 categorical columns and 5 numerical columns.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Numerical columns: ApplicantIncome, CoapplicantIncome, LoanAmount, Loan_Amount_Term, Credit_History.</a:t>
            </a:r>
            <a:endParaRPr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Categorical columns: Loan_ID, Gender, Married, Dependents, Education, Self_Employed, Property_Area, Loan_Status.</a:t>
            </a:r>
            <a:endParaRPr/>
          </a:p>
          <a:p>
            <a:pPr marL="285750" lvl="0" indent="-184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52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Simple description of each column in your dataset: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316550" y="810589"/>
            <a:ext cx="7776000" cy="3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Loan_ID</a:t>
            </a:r>
            <a:r>
              <a:rPr lang="en-GB" sz="1200"/>
              <a:t>: A unique identifier assigned to each loan application.</a:t>
            </a:r>
            <a:endParaRPr/>
          </a:p>
          <a:p>
            <a:pPr marL="0" lvl="0" indent="-76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Gender</a:t>
            </a:r>
            <a:r>
              <a:rPr lang="en-GB" sz="1200"/>
              <a:t>: Gender of the applicant (Male/Female).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Married</a:t>
            </a:r>
            <a:r>
              <a:rPr lang="en-GB" sz="1200"/>
              <a:t>: Indicates whether the applicant is married (Yes/No).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Dependents</a:t>
            </a:r>
            <a:r>
              <a:rPr lang="en-GB" sz="1200"/>
              <a:t>: Number of dependents the applicant has.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Education</a:t>
            </a:r>
            <a:r>
              <a:rPr lang="en-GB" sz="1200"/>
              <a:t>: Educational background of the applicant (Graduate / Not Graduate).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Self_Employed</a:t>
            </a:r>
            <a:r>
              <a:rPr lang="en-GB" sz="1200"/>
              <a:t>: Indicates whether the applicant is self-employed (Yes/No).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ApplicantIncome</a:t>
            </a:r>
            <a:r>
              <a:rPr lang="en-GB" sz="1200"/>
              <a:t>: Monthly income of the primary applicant.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CoapplicantIncome</a:t>
            </a:r>
            <a:r>
              <a:rPr lang="en-GB" sz="1200"/>
              <a:t>: Monthly income of the co-applicant, if any.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LoanAmount</a:t>
            </a:r>
            <a:r>
              <a:rPr lang="en-GB" sz="1200"/>
              <a:t>: Amount of loan requested by the applicant (in thousands).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Loan_Amount_Term</a:t>
            </a:r>
            <a:r>
              <a:rPr lang="en-GB" sz="1200"/>
              <a:t>: Duration of the loan repayment period (in months).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Credit_History</a:t>
            </a:r>
            <a:r>
              <a:rPr lang="en-GB" sz="1200"/>
              <a:t>: Credit history status of the applicant (1 = good credit history, 0 = poor credit history).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Property_Area</a:t>
            </a:r>
            <a:r>
              <a:rPr lang="en-GB" sz="1200"/>
              <a:t>: Type of area where the property is located (Urban, Semiurban, Rural).</a:t>
            </a:r>
            <a:endParaRPr/>
          </a:p>
          <a:p>
            <a:pPr marL="0" lvl="0" indent="-76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/>
              <a:t> Loan_Status</a:t>
            </a:r>
            <a:r>
              <a:rPr lang="en-GB" sz="1200"/>
              <a:t>: Final loan approval status (Y = Approved, N = Not Approved).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198422" y="-29464"/>
            <a:ext cx="8747155" cy="60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52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Reading Dataset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753502"/>
            <a:ext cx="8305800" cy="3850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433420" y="47346"/>
            <a:ext cx="874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Checks</a:t>
            </a:r>
            <a:endParaRPr/>
          </a:p>
        </p:txBody>
      </p:sp>
      <p:pic>
        <p:nvPicPr>
          <p:cNvPr id="157" name="Google Shape;15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807" y="1119647"/>
            <a:ext cx="4183743" cy="838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/>
        </p:nvSpPr>
        <p:spPr>
          <a:xfrm>
            <a:off x="290011" y="622641"/>
            <a:ext cx="4596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Columns of the Dataset</a:t>
            </a:r>
            <a:endParaRPr/>
          </a:p>
        </p:txBody>
      </p:sp>
      <p:sp>
        <p:nvSpPr>
          <p:cNvPr id="159" name="Google Shape;159;p30"/>
          <p:cNvSpPr txBox="1"/>
          <p:nvPr/>
        </p:nvSpPr>
        <p:spPr>
          <a:xfrm>
            <a:off x="210614" y="2111231"/>
            <a:ext cx="4596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Checking Structure of the Dataset</a:t>
            </a:r>
            <a:endParaRPr/>
          </a:p>
        </p:txBody>
      </p:sp>
      <p:pic>
        <p:nvPicPr>
          <p:cNvPr id="160" name="Google Shape;16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320" y="2616629"/>
            <a:ext cx="2903472" cy="231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/>
        </p:nvSpPr>
        <p:spPr>
          <a:xfrm>
            <a:off x="4028925" y="484063"/>
            <a:ext cx="515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Summary Statistics of Numerical Columns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1560" y="860083"/>
            <a:ext cx="3210225" cy="1789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/>
          <p:nvPr/>
        </p:nvSpPr>
        <p:spPr>
          <a:xfrm>
            <a:off x="3603708" y="2649276"/>
            <a:ext cx="53418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Checking Summary Statistics of Categorical Column</a:t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01631" y="3066567"/>
            <a:ext cx="5151566" cy="1417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4746575" y="1241300"/>
            <a:ext cx="3335100" cy="223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• 7 Columns have Missing Values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• No duplicates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• Now ,I want to perform some      Preprocessing Techniques 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columns like: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✔ Handling Missing Values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✔ Handling Inconsistent Data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✔ Data Type Conversions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304800" y="13335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Techniques on Dataset Individual Columns</a:t>
            </a:r>
            <a:endParaRPr sz="2400"/>
          </a:p>
        </p:txBody>
      </p:sp>
      <p:pic>
        <p:nvPicPr>
          <p:cNvPr id="171" name="Google Shape;17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835" y="849927"/>
            <a:ext cx="2390198" cy="278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776" y="3638551"/>
            <a:ext cx="3966224" cy="99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198422" y="-109812"/>
            <a:ext cx="8747155" cy="67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3000" rIns="0" bIns="0" anchor="t" anchorCtr="0">
            <a:spAutoFit/>
          </a:bodyPr>
          <a:lstStyle/>
          <a:p>
            <a:pPr marL="2012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Handling Missing Values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5257800" y="683949"/>
            <a:ext cx="2895600" cy="24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0132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For missing values of the categorical data columns like</a:t>
            </a:r>
            <a:endParaRPr/>
          </a:p>
          <a:p>
            <a:pPr marL="40132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Gender</a:t>
            </a:r>
            <a:endParaRPr/>
          </a:p>
          <a:p>
            <a:pPr marL="40132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Married</a:t>
            </a:r>
            <a:endParaRPr/>
          </a:p>
          <a:p>
            <a:pPr marL="40132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Dependents</a:t>
            </a:r>
            <a:endParaRPr/>
          </a:p>
          <a:p>
            <a:pPr marL="401320" lvl="0" indent="-2857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self Employed</a:t>
            </a:r>
            <a:endParaRPr/>
          </a:p>
          <a:p>
            <a:pPr marL="401320" lvl="0" indent="-196850" algn="just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1320" lvl="0" indent="-285750" algn="just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We replaced missing values of all categorical columns with 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mode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401320" lvl="0" indent="-1968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1320" lvl="0" indent="-19685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1" y="680139"/>
            <a:ext cx="4419600" cy="2485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3409950"/>
            <a:ext cx="4709568" cy="97544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2"/>
          <p:cNvSpPr txBox="1"/>
          <p:nvPr/>
        </p:nvSpPr>
        <p:spPr>
          <a:xfrm>
            <a:off x="5410200" y="3398520"/>
            <a:ext cx="3200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Column: Loan Amount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We replaced missing values of Loan Amount with </a:t>
            </a: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Median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361950"/>
            <a:ext cx="5029200" cy="375698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/>
        </p:nvSpPr>
        <p:spPr>
          <a:xfrm>
            <a:off x="5486400" y="666750"/>
            <a:ext cx="32766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u="sng">
                <a:latin typeface="Times New Roman"/>
                <a:ea typeface="Times New Roman"/>
                <a:cs typeface="Times New Roman"/>
                <a:sym typeface="Times New Roman"/>
              </a:rPr>
              <a:t>Column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Loan_Amount_Amount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We replaced missing values of Loan_Amount_Amount with </a:t>
            </a: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Mode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85750" lvl="0" indent="-1841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5562600" y="2553147"/>
            <a:ext cx="3200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u="sng">
                <a:latin typeface="Times New Roman"/>
                <a:ea typeface="Times New Roman"/>
                <a:cs typeface="Times New Roman"/>
                <a:sym typeface="Times New Roman"/>
              </a:rPr>
              <a:t>Column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: Credit_History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We replaced missing values of Credit_History with </a:t>
            </a: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Mode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85750" lvl="0" indent="-1841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/>
        </p:nvSpPr>
        <p:spPr>
          <a:xfrm>
            <a:off x="152400" y="141200"/>
            <a:ext cx="25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  <a:ea typeface="Times New Roman"/>
                <a:cs typeface="Times New Roman"/>
                <a:sym typeface="Times New Roman"/>
              </a:rPr>
              <a:t>Fixing Inconsistencies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1" y="537210"/>
            <a:ext cx="4571999" cy="3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6800" y="1489616"/>
            <a:ext cx="2972058" cy="216426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/>
        </p:nvSpPr>
        <p:spPr>
          <a:xfrm>
            <a:off x="228600" y="4171950"/>
            <a:ext cx="39869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There are no inconsistencies in the Dataset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/>
        </p:nvSpPr>
        <p:spPr>
          <a:xfrm>
            <a:off x="683450" y="209550"/>
            <a:ext cx="589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65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Times New Roman"/>
                <a:ea typeface="Times New Roman"/>
                <a:cs typeface="Times New Roman"/>
                <a:sym typeface="Times New Roman"/>
              </a:rPr>
              <a:t>Performing Data Conversions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25" y="762150"/>
            <a:ext cx="7049775" cy="81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25" y="1636725"/>
            <a:ext cx="4324075" cy="11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2075" y="1636725"/>
            <a:ext cx="2552525" cy="29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/>
        </p:nvSpPr>
        <p:spPr>
          <a:xfrm>
            <a:off x="633963" y="3194150"/>
            <a:ext cx="3924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We converted all the </a:t>
            </a:r>
            <a:r>
              <a:rPr lang="en-GB" b="1"/>
              <a:t>object </a:t>
            </a:r>
            <a:r>
              <a:rPr lang="en-GB"/>
              <a:t>columns to </a:t>
            </a:r>
            <a:r>
              <a:rPr lang="en-GB" b="1"/>
              <a:t>category</a:t>
            </a:r>
            <a:r>
              <a:rPr lang="en-GB"/>
              <a:t> data type except the </a:t>
            </a:r>
            <a:r>
              <a:rPr lang="en-GB" b="1"/>
              <a:t>Loan_ID</a:t>
            </a:r>
            <a:r>
              <a:rPr lang="en-GB"/>
              <a:t> column and the </a:t>
            </a:r>
            <a:r>
              <a:rPr lang="en-GB" b="1"/>
              <a:t>Loan_Amount_Term</a:t>
            </a:r>
            <a:r>
              <a:rPr lang="en-GB"/>
              <a:t> and </a:t>
            </a:r>
            <a:r>
              <a:rPr lang="en-GB" b="1"/>
              <a:t>Credit_History</a:t>
            </a:r>
            <a:r>
              <a:rPr lang="en-GB"/>
              <a:t> columns to </a:t>
            </a:r>
            <a:r>
              <a:rPr lang="en-GB" b="1"/>
              <a:t>category</a:t>
            </a:r>
            <a:r>
              <a:rPr lang="en-GB"/>
              <a:t> data type.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/>
        </p:nvSpPr>
        <p:spPr>
          <a:xfrm>
            <a:off x="304800" y="133350"/>
            <a:ext cx="556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45" lvl="0" indent="0" algn="l" rtl="0">
              <a:lnSpc>
                <a:spcPct val="11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Data Analysis through Visualizations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381000" y="584756"/>
            <a:ext cx="4572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14019" lvl="0" indent="-3428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⮚"/>
            </a:pPr>
            <a:r>
              <a:rPr lang="en-GB" sz="2100" b="1">
                <a:latin typeface="Times New Roman"/>
                <a:ea typeface="Times New Roman"/>
                <a:cs typeface="Times New Roman"/>
                <a:sym typeface="Times New Roman"/>
              </a:rPr>
              <a:t>Univariate Analysis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895350"/>
            <a:ext cx="8359864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6"/>
          <p:cNvSpPr txBox="1"/>
          <p:nvPr/>
        </p:nvSpPr>
        <p:spPr>
          <a:xfrm>
            <a:off x="609600" y="3131225"/>
            <a:ext cx="79248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ApplicantIncome</a:t>
            </a: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The distribution is strongly right-skewed.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Most applicant incomes lie between 0 and 5,000.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The median </a:t>
            </a:r>
            <a:r>
              <a:rPr lang="en-GB" sz="1600" i="0" dirty="0" err="1">
                <a:latin typeface="Times New Roman"/>
                <a:ea typeface="Times New Roman"/>
                <a:cs typeface="Times New Roman"/>
                <a:sym typeface="Times New Roman"/>
              </a:rPr>
              <a:t>ApplicantIncome</a:t>
            </a: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 is approximately 3,800, which lies well within the 0–5,000 range.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Several extreme outliers are present, with incomes extending up to 80,000.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09550"/>
            <a:ext cx="8291278" cy="30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7"/>
          <p:cNvSpPr txBox="1"/>
          <p:nvPr/>
        </p:nvSpPr>
        <p:spPr>
          <a:xfrm>
            <a:off x="304800" y="3234952"/>
            <a:ext cx="8382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CoapplicantIncome</a:t>
            </a: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The distribution is highly right-skewed with a large spike at 0.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The median </a:t>
            </a:r>
            <a:r>
              <a:rPr lang="en-GB" sz="1600" i="0" dirty="0" err="1">
                <a:latin typeface="Times New Roman"/>
                <a:ea typeface="Times New Roman"/>
                <a:cs typeface="Times New Roman"/>
                <a:sym typeface="Times New Roman"/>
              </a:rPr>
              <a:t>CoapplicantIncome</a:t>
            </a: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 is approximately 1,200.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Most values fall between 0 and 4,000, with a long tail extending up to 41,000.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 dirty="0">
                <a:latin typeface="Times New Roman"/>
                <a:ea typeface="Times New Roman"/>
                <a:cs typeface="Times New Roman"/>
                <a:sym typeface="Times New Roman"/>
              </a:rPr>
              <a:t>Multiple outliers suggest some applicants rely heavily on co-applicant income.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/>
        </p:nvSpPr>
        <p:spPr>
          <a:xfrm>
            <a:off x="381000" y="285750"/>
            <a:ext cx="815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Similarly,</a:t>
            </a:r>
            <a:endParaRPr/>
          </a:p>
        </p:txBody>
      </p:sp>
      <p:sp>
        <p:nvSpPr>
          <p:cNvPr id="226" name="Google Shape;226;p38"/>
          <p:cNvSpPr txBox="1"/>
          <p:nvPr/>
        </p:nvSpPr>
        <p:spPr>
          <a:xfrm>
            <a:off x="457200" y="658892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GB" sz="18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LoanAmount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762000" y="993636"/>
            <a:ext cx="5715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The distribution is moderately right-skewed.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The median LoanAmount is approximately 128.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Most loan amounts fall between 100 and 200.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Several high-value outliers are present, with loan amounts reaching up to 700.</a:t>
            </a:r>
            <a:endParaRPr/>
          </a:p>
        </p:txBody>
      </p:sp>
      <p:sp>
        <p:nvSpPr>
          <p:cNvPr id="228" name="Google Shape;228;p38"/>
          <p:cNvSpPr txBox="1"/>
          <p:nvPr/>
        </p:nvSpPr>
        <p:spPr>
          <a:xfrm>
            <a:off x="457200" y="2317075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GB" sz="18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Loan_Amount_Term</a:t>
            </a:r>
            <a:r>
              <a:rPr lang="en-GB" sz="1800" b="0" i="0" u="sng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685800" y="2686407"/>
            <a:ext cx="800100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>
                <a:latin typeface="Times New Roman"/>
                <a:ea typeface="Times New Roman"/>
                <a:cs typeface="Times New Roman"/>
                <a:sym typeface="Times New Roman"/>
              </a:rPr>
              <a:t>The distribution is highly concentrated, with a strong peak at 360 months, indicating that this is the most common loan tenure.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>
                <a:latin typeface="Times New Roman"/>
                <a:ea typeface="Times New Roman"/>
                <a:cs typeface="Times New Roman"/>
                <a:sym typeface="Times New Roman"/>
              </a:rPr>
              <a:t>The median Loan_Amount_Term is 360 months, showing that half of the loans are issued for a 30-year duration.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>
                <a:latin typeface="Times New Roman"/>
                <a:ea typeface="Times New Roman"/>
                <a:cs typeface="Times New Roman"/>
                <a:sym typeface="Times New Roman"/>
              </a:rPr>
              <a:t>Shorter loan terms (such as 12, 36, 60, and 120 months) are present but occur far less frequently.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>
                <a:latin typeface="Times New Roman"/>
                <a:ea typeface="Times New Roman"/>
                <a:cs typeface="Times New Roman"/>
                <a:sym typeface="Times New Roman"/>
              </a:rPr>
              <a:t>A few outliers exist at very low and very high tenures (up to 480 months), indicating some non-standard loan agreements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66750"/>
            <a:ext cx="5738357" cy="255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9"/>
          <p:cNvSpPr txBox="1"/>
          <p:nvPr/>
        </p:nvSpPr>
        <p:spPr>
          <a:xfrm>
            <a:off x="266370" y="133350"/>
            <a:ext cx="3065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Categorical Columns:</a:t>
            </a:r>
            <a:endParaRPr dirty="0"/>
          </a:p>
        </p:txBody>
      </p:sp>
      <p:sp>
        <p:nvSpPr>
          <p:cNvPr id="236" name="Google Shape;236;p39"/>
          <p:cNvSpPr txBox="1"/>
          <p:nvPr/>
        </p:nvSpPr>
        <p:spPr>
          <a:xfrm>
            <a:off x="266370" y="3105150"/>
            <a:ext cx="78486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Gender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The dataset is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male-dominated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with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81.8% Male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and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18.2% Female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applicants.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imbalance suggests that loan applications are more commonly submitted by males.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Gender-based analysis may reflect societal or employment patterns influencing loan access.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285750"/>
            <a:ext cx="5486875" cy="2773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0"/>
          <p:cNvSpPr txBox="1"/>
          <p:nvPr/>
        </p:nvSpPr>
        <p:spPr>
          <a:xfrm>
            <a:off x="304800" y="3077111"/>
            <a:ext cx="76962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Married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A majority of applicants are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Married (65.3%)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while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34.7% are Not Married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Married applicants form nearly two-thirds of the dataset, indicating household-based borrowing is common.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may relate to combined income or family financial responsibilities.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/>
        </p:nvSpPr>
        <p:spPr>
          <a:xfrm>
            <a:off x="152400" y="438150"/>
            <a:ext cx="84582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Graduates dominate the dataset (78.2%)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compared to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21.8% Not Graduates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suggests that higher education levels are more prevalent among loan applicants.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Education may indirectly influence income levels and loan eligibility.</a:t>
            </a:r>
            <a:endParaRPr dirty="0"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Self_Employed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Most applicants are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Not Self-Employed (86.6%)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Only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~13.4%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are self-employed, indicating salaried individuals form the majority.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Lenders may encounter fewer self-employed applicants due to income stability concerns.</a:t>
            </a:r>
            <a:endParaRPr dirty="0"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Property_Area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Applicants are fairly distributed across areas: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Semiurban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: 37.9%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Urban: 32.9%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Rural: 29.2%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Semiurban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 areas contribute the highest number of applicants.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suggests growing credit demand in </a:t>
            </a:r>
            <a:r>
              <a:rPr lang="en-GB" sz="1600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semiurban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 regions.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/>
        </p:nvSpPr>
        <p:spPr>
          <a:xfrm>
            <a:off x="381000" y="361950"/>
            <a:ext cx="792480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Loan_Status</a:t>
            </a:r>
            <a:r>
              <a:rPr lang="en-GB" sz="1600" b="1" i="0" u="sng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(Target Variable)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68.7% loans are Approved (Y)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while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31.3% are Rejected (N)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The approval rate is relatively high, indicating </a:t>
            </a:r>
            <a:r>
              <a:rPr lang="en-GB" sz="1600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favorable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 lending conditions.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imbalance should be considered during predictive </a:t>
            </a:r>
            <a:r>
              <a:rPr lang="en-GB" sz="1600" b="0" i="0" dirty="0" err="1"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endParaRPr sz="1600" b="1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Dependents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Applicants with 0 dependents dominate (58.6%)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Applicants with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1 (16.6%)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and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2 (16.4%)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dependents form similar proportions.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3 dependents (8.3%)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is the least common category.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Smaller household sizes are more frequent among loan applicants.</a:t>
            </a:r>
            <a:endParaRPr dirty="0"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Credit_History</a:t>
            </a:r>
            <a:endParaRPr sz="16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A strong majority of applicants have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good credit history (1.0) 85.5%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Only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14.5%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have poor or missing credit history (0.0).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Credit history is highly skewed toward positive values, highlighting its importance in loan approval.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/>
        </p:nvSpPr>
        <p:spPr>
          <a:xfrm>
            <a:off x="304800" y="285750"/>
            <a:ext cx="6553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Times New Roman"/>
                <a:ea typeface="Times New Roman"/>
                <a:cs typeface="Times New Roman"/>
                <a:sym typeface="Times New Roman"/>
              </a:rPr>
              <a:t>Bivariate Analysis-Categorical and Categorical</a:t>
            </a:r>
            <a:endParaRPr sz="2400" b="1"/>
          </a:p>
        </p:txBody>
      </p:sp>
      <p:pic>
        <p:nvPicPr>
          <p:cNvPr id="259" name="Google Shape;25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370" y="766465"/>
            <a:ext cx="3372030" cy="188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447" y="2690391"/>
            <a:ext cx="3266954" cy="216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3"/>
          <p:cNvSpPr txBox="1"/>
          <p:nvPr/>
        </p:nvSpPr>
        <p:spPr>
          <a:xfrm>
            <a:off x="3581400" y="757668"/>
            <a:ext cx="535323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GB" sz="1800" b="1" i="0" dirty="0">
                <a:latin typeface="Times New Roman"/>
                <a:ea typeface="Times New Roman"/>
                <a:cs typeface="Times New Roman"/>
                <a:sym typeface="Times New Roman"/>
              </a:rPr>
              <a:t>Gender </a:t>
            </a:r>
            <a:r>
              <a:rPr lang="en-GB" sz="18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vs</a:t>
            </a:r>
            <a:r>
              <a:rPr lang="en-GB" sz="1800" b="1" i="0" dirty="0">
                <a:latin typeface="Times New Roman"/>
                <a:ea typeface="Times New Roman"/>
                <a:cs typeface="Times New Roman"/>
                <a:sym typeface="Times New Roman"/>
              </a:rPr>
              <a:t> Loan Status</a:t>
            </a:r>
            <a:endParaRPr sz="18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Male applicants receive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significantly more loan approvals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compared to female applicants.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For both genders,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approved loans (Y)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are higher than rejected loans (N).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suggests a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higher participation and approval rate among males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possibly due to income or employment differences.</a:t>
            </a:r>
            <a:endParaRPr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GB" sz="1800" b="1" i="0" dirty="0">
                <a:latin typeface="Times New Roman"/>
                <a:ea typeface="Times New Roman"/>
                <a:cs typeface="Times New Roman"/>
                <a:sym typeface="Times New Roman"/>
              </a:rPr>
              <a:t>Married </a:t>
            </a:r>
            <a:r>
              <a:rPr lang="en-GB" sz="1800" b="1" i="0" dirty="0" err="1">
                <a:latin typeface="Times New Roman"/>
                <a:ea typeface="Times New Roman"/>
                <a:cs typeface="Times New Roman"/>
                <a:sym typeface="Times New Roman"/>
              </a:rPr>
              <a:t>vs</a:t>
            </a:r>
            <a:r>
              <a:rPr lang="en-GB" sz="1800" b="1" i="0" dirty="0">
                <a:latin typeface="Times New Roman"/>
                <a:ea typeface="Times New Roman"/>
                <a:cs typeface="Times New Roman"/>
                <a:sym typeface="Times New Roman"/>
              </a:rPr>
              <a:t> Loan Status</a:t>
            </a:r>
            <a:endParaRPr sz="1800" b="0" i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Married applicants have a much higher loan approval rate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 than unmarried applicants.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While unmarried applicants also receive approvals, the proportion is lower.</a:t>
            </a:r>
            <a:endParaRPr dirty="0"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This indicates that </a:t>
            </a:r>
            <a:r>
              <a:rPr lang="en-GB" sz="1600" b="1" i="0" dirty="0">
                <a:latin typeface="Times New Roman"/>
                <a:ea typeface="Times New Roman"/>
                <a:cs typeface="Times New Roman"/>
                <a:sym typeface="Times New Roman"/>
              </a:rPr>
              <a:t>marital status may positively influence loan approval</a:t>
            </a:r>
            <a:r>
              <a:rPr lang="en-GB" sz="1600" b="0" i="0" dirty="0">
                <a:latin typeface="Times New Roman"/>
                <a:ea typeface="Times New Roman"/>
                <a:cs typeface="Times New Roman"/>
                <a:sym typeface="Times New Roman"/>
              </a:rPr>
              <a:t>, possibly due to dual income or financial stability.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/>
        </p:nvSpPr>
        <p:spPr>
          <a:xfrm>
            <a:off x="609600" y="819150"/>
            <a:ext cx="70104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🔹 Dependents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Applicants with fewer dependents have higher loan approval chances.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Graduates receive more loan approvals than non-graduates.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🔹 Self-Employed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Salaried applicants are approved more often than self-employed applicants.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🔹 Credit History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Good credit history is the strongest factor for loan approval.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🔹 Loan Amount Term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Loan term has little to no impact on approval decisions.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🔹 Property Area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Semiurban</a:t>
            </a:r>
            <a:r>
              <a:rPr lang="en-GB" sz="1600" dirty="0">
                <a:latin typeface="Times New Roman"/>
                <a:ea typeface="Times New Roman"/>
                <a:cs typeface="Times New Roman"/>
                <a:sym typeface="Times New Roman"/>
              </a:rPr>
              <a:t> and Urban applicants have higher approval rates than Rural.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44"/>
          <p:cNvSpPr txBox="1"/>
          <p:nvPr/>
        </p:nvSpPr>
        <p:spPr>
          <a:xfrm>
            <a:off x="533400" y="438150"/>
            <a:ext cx="11208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Similarly,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52400" y="57150"/>
            <a:ext cx="6629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  <a:t>Bivariate Analysis-Categorical and Numerical</a:t>
            </a:r>
            <a:endParaRPr sz="2400" b="1" dirty="0"/>
          </a:p>
        </p:txBody>
      </p:sp>
      <p:pic>
        <p:nvPicPr>
          <p:cNvPr id="273" name="Google Shape;27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666750"/>
            <a:ext cx="4114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9059" y="518815"/>
            <a:ext cx="4114800" cy="253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5"/>
          <p:cNvSpPr txBox="1"/>
          <p:nvPr/>
        </p:nvSpPr>
        <p:spPr>
          <a:xfrm>
            <a:off x="381000" y="3085454"/>
            <a:ext cx="40386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🔹 Applicant Income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Median income is similar for approved and rejected loans.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High income alone does not guarantee approval.</a:t>
            </a:r>
            <a:endParaRPr/>
          </a:p>
        </p:txBody>
      </p:sp>
      <p:sp>
        <p:nvSpPr>
          <p:cNvPr id="276" name="Google Shape;276;p45"/>
          <p:cNvSpPr txBox="1"/>
          <p:nvPr/>
        </p:nvSpPr>
        <p:spPr>
          <a:xfrm>
            <a:off x="4453054" y="3028950"/>
            <a:ext cx="4572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🔹 Coapplicant Income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Approved loans show slightly higher coapplicant income.</a:t>
            </a:r>
            <a:endParaRPr/>
          </a:p>
          <a:p>
            <a:pPr marL="0" lvl="0" indent="-1016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Additional income support improves approval chances.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/>
        </p:nvSpPr>
        <p:spPr>
          <a:xfrm>
            <a:off x="4343400" y="1047750"/>
            <a:ext cx="457200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GB" sz="1600" b="1" i="0">
                <a:latin typeface="Times New Roman"/>
                <a:ea typeface="Times New Roman"/>
                <a:cs typeface="Times New Roman"/>
                <a:sym typeface="Times New Roman"/>
              </a:rPr>
              <a:t>LoanAmount &amp; Loan Status</a:t>
            </a:r>
            <a:endParaRPr sz="1600" b="0"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Approved loans tend to have a slightly lower average loan amount than rejected loans.</a:t>
            </a:r>
            <a:endParaRPr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Larger loan amounts appear more frequently among rejected applications.</a:t>
            </a:r>
            <a:endParaRPr/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GB" sz="1600" i="0">
                <a:latin typeface="Times New Roman"/>
                <a:ea typeface="Times New Roman"/>
                <a:cs typeface="Times New Roman"/>
                <a:sym typeface="Times New Roman"/>
              </a:rPr>
              <a:t>This suggests that higher loan demand may reduce approval chances</a:t>
            </a:r>
            <a:r>
              <a:rPr lang="en-GB" sz="1600" b="0" i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895349"/>
            <a:ext cx="3810000" cy="258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381000" y="133350"/>
            <a:ext cx="6629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  <a:t>Bivariate Analysis-Numerical and Numerical</a:t>
            </a:r>
            <a:endParaRPr sz="2400" b="1" dirty="0"/>
          </a:p>
        </p:txBody>
      </p:sp>
      <p:pic>
        <p:nvPicPr>
          <p:cNvPr id="288" name="Google Shape;288;p47"/>
          <p:cNvPicPr preferRelativeResize="0"/>
          <p:nvPr/>
        </p:nvPicPr>
        <p:blipFill rotWithShape="1">
          <a:blip r:embed="rId3">
            <a:alphaModFix/>
          </a:blip>
          <a:srcRect b="49884"/>
          <a:stretch/>
        </p:blipFill>
        <p:spPr>
          <a:xfrm>
            <a:off x="531375" y="595020"/>
            <a:ext cx="3354825" cy="220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1" y="514350"/>
            <a:ext cx="380999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7"/>
          <p:cNvSpPr txBox="1"/>
          <p:nvPr/>
        </p:nvSpPr>
        <p:spPr>
          <a:xfrm>
            <a:off x="685000" y="2848300"/>
            <a:ext cx="42612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Applicant Income</a:t>
            </a:r>
            <a:endParaRPr>
              <a:solidFill>
                <a:schemeClr val="dk1"/>
              </a:solidFill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Loan approvals occur across all income levels.</a:t>
            </a:r>
            <a:endParaRPr>
              <a:solidFill>
                <a:schemeClr val="dk1"/>
              </a:solidFill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income alone does not ensure approval.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Coapplicant Income</a:t>
            </a:r>
            <a:endParaRPr>
              <a:solidFill>
                <a:schemeClr val="dk1"/>
              </a:solidFill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Presence of coapplicant income supports approval     chances.</a:t>
            </a:r>
            <a:endParaRPr>
              <a:solidFill>
                <a:schemeClr val="dk1"/>
              </a:solidFill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Zero or low coapplicant income appears more in rejections.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47"/>
          <p:cNvSpPr txBox="1"/>
          <p:nvPr/>
        </p:nvSpPr>
        <p:spPr>
          <a:xfrm>
            <a:off x="4946200" y="29005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Coapplicant Income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47"/>
          <p:cNvSpPr txBox="1"/>
          <p:nvPr/>
        </p:nvSpPr>
        <p:spPr>
          <a:xfrm>
            <a:off x="5049300" y="320245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loans are mostly concentrated around lower to mid-range loan amounts.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loan amounts show more scattered rejections, suggesting increased risk.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>
            <a:spLocks noGrp="1"/>
          </p:cNvSpPr>
          <p:nvPr>
            <p:ph type="title"/>
          </p:nvPr>
        </p:nvSpPr>
        <p:spPr>
          <a:xfrm>
            <a:off x="304800" y="209550"/>
            <a:ext cx="87471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/>
                <a:ea typeface="Times New Roman"/>
                <a:cs typeface="Times New Roman"/>
                <a:sym typeface="Times New Roman"/>
              </a:rPr>
              <a:t>Multivariate Analysis</a:t>
            </a:r>
            <a:endParaRPr sz="2400" dirty="0"/>
          </a:p>
        </p:txBody>
      </p:sp>
      <p:pic>
        <p:nvPicPr>
          <p:cNvPr id="298" name="Google Shape;29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1" y="742948"/>
            <a:ext cx="4495799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8"/>
          <p:cNvSpPr txBox="1"/>
          <p:nvPr/>
        </p:nvSpPr>
        <p:spPr>
          <a:xfrm>
            <a:off x="4572000" y="1569550"/>
            <a:ext cx="44958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➢"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Correlation Insight</a:t>
            </a:r>
            <a:endParaRPr/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ApplicantIncome and LoanAmount show a moderate positive correlation (0.57), meaning higher income often leads to higher loan requests.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CoapplicantIncome and LoanAmount show a moderate positive correlation (0.50), indicating that coapplicant income has a positive impact on loan approval.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88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Overall, numerical variables influence loan approval indirectly, with credit history and categorical factors likely playing a stronger role.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/>
        </p:nvSpPr>
        <p:spPr>
          <a:xfrm>
            <a:off x="247650" y="438150"/>
            <a:ext cx="86487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Final Summary and Conclusion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This project conducted a comprehensive Exploratory Data Analysis (EDA) on the </a:t>
            </a: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Home Loan Approval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dataset to understand the key factors influencing loan approval decisions and applicant </a:t>
            </a:r>
            <a:r>
              <a:rPr lang="en-GB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latin typeface="Times New Roman"/>
                <a:ea typeface="Times New Roman"/>
                <a:cs typeface="Times New Roman"/>
                <a:sym typeface="Times New Roman"/>
              </a:rPr>
              <a:t>Key Analytical Steps:</a:t>
            </a:r>
            <a:endParaRPr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Data preparation 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ensured clean, consistent, and duplicate-free records by handling missing values and correcting data types.</a:t>
            </a:r>
            <a:endParaRPr dirty="0"/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 b="1" dirty="0" err="1">
                <a:latin typeface="Times New Roman"/>
                <a:ea typeface="Times New Roman"/>
                <a:cs typeface="Times New Roman"/>
                <a:sym typeface="Times New Roman"/>
              </a:rPr>
              <a:t>Univariate</a:t>
            </a: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 analysis 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examined the distribution of individual variables such as gender, marital status, education, dependents, applicant income, loan amount, credit history, property area, and loan status.</a:t>
            </a:r>
            <a:endParaRPr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Bivariate analysis (visual and non-visual) 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explored relationships between: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Credit history and loan approval status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Applicant income and loan amount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Education, employment type, and loan approval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Property area and approval trends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Categorical analysis 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focused on understanding approval patterns across demographic and socioeconomic groups.</a:t>
            </a:r>
            <a:endParaRPr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 b="1" dirty="0">
                <a:latin typeface="Times New Roman"/>
                <a:ea typeface="Times New Roman"/>
                <a:cs typeface="Times New Roman"/>
                <a:sym typeface="Times New Roman"/>
              </a:rPr>
              <a:t>Numerical analysis 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evaluated correlations among income, loan amount, and loan term to identify financial </a:t>
            </a:r>
            <a:r>
              <a:rPr lang="en-GB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GB" sz="1500" dirty="0">
                <a:latin typeface="Times New Roman"/>
                <a:ea typeface="Times New Roman"/>
                <a:cs typeface="Times New Roman"/>
                <a:sym typeface="Times New Roman"/>
              </a:rPr>
              <a:t> patterns.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/>
        </p:nvSpPr>
        <p:spPr>
          <a:xfrm>
            <a:off x="152400" y="56825"/>
            <a:ext cx="8839200" cy="4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Key Insights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Credit history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is the strongest predictor of loan approval, with applicants having a good credit record being approved in most cases.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Applicant income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influences the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loan amount requested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but does not strongly determine approval by itself.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Graduates and salaried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(non-self-employed) applicants show higher approval rates, indicating preference for financial stability.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Married applicants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and those with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fewer dependents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tend to have better approval outcomes.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Semiurban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urban property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areas exhibit higher loan approval rates compared to rural areas.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 higher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cost (loan amount)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does not necessarily reduce approval when credit history is strong.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Final Outcome</a:t>
            </a:r>
            <a:endParaRPr/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Applicants with </a:t>
            </a: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strong credit history, stable employment, and balanced financial profiles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emerge as the most likely candidates for loan approval.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The analysis shows that lenders prioritize </a:t>
            </a:r>
            <a:r>
              <a:rPr lang="en-GB" sz="1500" b="1">
                <a:latin typeface="Times New Roman"/>
                <a:ea typeface="Times New Roman"/>
                <a:cs typeface="Times New Roman"/>
                <a:sym typeface="Times New Roman"/>
              </a:rPr>
              <a:t>risk mitigation factors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over income alone, emphasizing long-term repayment reliability.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Loan Approval dataset demonstrates that loan eligibility is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multidimensional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driven primarily by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creditworthiness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, supported by education, employment stability, and demographic factors.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Effective lending decisions should balance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financial indicators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applicant stability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rather than relying solely on income levels.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This EDA provides a solid foundation for </a:t>
            </a: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predictive modeling, credit risk assessment, and policy optimization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in future work.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9887" y="1388061"/>
            <a:ext cx="3349232" cy="212573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1"/>
          <p:cNvSpPr txBox="1">
            <a:spLocks noGrp="1"/>
          </p:cNvSpPr>
          <p:nvPr>
            <p:ph type="title"/>
          </p:nvPr>
        </p:nvSpPr>
        <p:spPr>
          <a:xfrm>
            <a:off x="673100" y="1913636"/>
            <a:ext cx="2002155" cy="52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On-screen Show (16:9)</PresentationFormat>
  <Paragraphs>193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Times New Roman</vt:lpstr>
      <vt:lpstr>Calibri</vt:lpstr>
      <vt:lpstr>Noto Sans Symbols</vt:lpstr>
      <vt:lpstr>Simple Light</vt:lpstr>
      <vt:lpstr>Office Theme</vt:lpstr>
      <vt:lpstr>Office Theme</vt:lpstr>
      <vt:lpstr>Home Loan Approval Prediction Dataset Overview</vt:lpstr>
      <vt:lpstr>Dataset Overview</vt:lpstr>
      <vt:lpstr>Simple description of each column in your dataset:</vt:lpstr>
      <vt:lpstr>Reading Dataset</vt:lpstr>
      <vt:lpstr>Basic Checks</vt:lpstr>
      <vt:lpstr>PowerPoint Presentation</vt:lpstr>
      <vt:lpstr>Handling Missing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Multivariate Analysis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Loan Approval Prediction Dataset Overview</dc:title>
  <cp:lastModifiedBy>Rajashekhar Dondupati</cp:lastModifiedBy>
  <cp:revision>3</cp:revision>
  <dcterms:modified xsi:type="dcterms:W3CDTF">2026-03-11T16:54:41Z</dcterms:modified>
</cp:coreProperties>
</file>